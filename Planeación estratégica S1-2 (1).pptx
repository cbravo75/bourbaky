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64" r:id="rId2"/>
    <p:sldId id="304" r:id="rId3"/>
    <p:sldId id="321" r:id="rId4"/>
    <p:sldId id="320" r:id="rId5"/>
    <p:sldId id="329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2" autoAdjust="0"/>
    <p:restoredTop sz="94679"/>
  </p:normalViewPr>
  <p:slideViewPr>
    <p:cSldViewPr>
      <p:cViewPr varScale="1">
        <p:scale>
          <a:sx n="86" d="100"/>
          <a:sy n="86" d="100"/>
        </p:scale>
        <p:origin x="1264" y="4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B1D0BD-FD07-4217-A8F3-BE3227D5CA3B}" type="datetimeFigureOut">
              <a:rPr lang="es-MX" smtClean="0"/>
              <a:t>20/04/26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A90B7-D076-4E0E-9A31-8D2BDCAD012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5377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2DE908D7-A299-6CA8-7CDA-A69C739B1BC0}"/>
              </a:ext>
            </a:extLst>
          </p:cNvPr>
          <p:cNvGrpSpPr/>
          <p:nvPr userDrawn="1"/>
        </p:nvGrpSpPr>
        <p:grpSpPr>
          <a:xfrm>
            <a:off x="0" y="0"/>
            <a:ext cx="6722436" cy="4423317"/>
            <a:chOff x="-68712" y="0"/>
            <a:chExt cx="5165748" cy="327368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AA09420-CFC3-B818-3702-D1801882C819}"/>
                </a:ext>
              </a:extLst>
            </p:cNvPr>
            <p:cNvPicPr/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4" r="1694" b="2307"/>
            <a:stretch/>
          </p:blipFill>
          <p:spPr>
            <a:xfrm>
              <a:off x="225319" y="0"/>
              <a:ext cx="4871717" cy="3273680"/>
            </a:xfrm>
            <a:prstGeom prst="rect">
              <a:avLst/>
            </a:prstGeom>
          </p:spPr>
        </p:pic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B026245-E260-D097-1A7F-11F94846A4EA}"/>
                </a:ext>
              </a:extLst>
            </p:cNvPr>
            <p:cNvSpPr/>
            <p:nvPr/>
          </p:nvSpPr>
          <p:spPr>
            <a:xfrm>
              <a:off x="-68712" y="0"/>
              <a:ext cx="406190" cy="3273680"/>
            </a:xfrm>
            <a:prstGeom prst="rect">
              <a:avLst/>
            </a:prstGeom>
            <a:solidFill>
              <a:srgbClr val="A9A0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351"/>
            </a:p>
          </p:txBody>
        </p:sp>
      </p:grpSp>
      <p:pic>
        <p:nvPicPr>
          <p:cNvPr id="22" name="Imagen 22">
            <a:extLst>
              <a:ext uri="{FF2B5EF4-FFF2-40B4-BE49-F238E27FC236}">
                <a16:creationId xmlns:a16="http://schemas.microsoft.com/office/drawing/2014/main" id="{3F464E87-4131-D9AA-932E-5EAF2A543B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4" b="8424"/>
          <a:stretch/>
        </p:blipFill>
        <p:spPr>
          <a:xfrm>
            <a:off x="6722436" y="0"/>
            <a:ext cx="5498319" cy="6858000"/>
          </a:xfrm>
          <a:prstGeom prst="rect">
            <a:avLst/>
          </a:prstGeom>
        </p:spPr>
      </p:pic>
      <p:pic>
        <p:nvPicPr>
          <p:cNvPr id="11" name="Picture 15">
            <a:extLst>
              <a:ext uri="{FF2B5EF4-FFF2-40B4-BE49-F238E27FC236}">
                <a16:creationId xmlns:a16="http://schemas.microsoft.com/office/drawing/2014/main" id="{11D0423C-F4F9-4211-CE02-CB39ED1FA1B8}"/>
              </a:ext>
            </a:extLst>
          </p:cNvPr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4000" y="5936339"/>
            <a:ext cx="1139407" cy="51063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4B6F02A-D871-614C-E90E-E3D4BCBC7229}"/>
              </a:ext>
            </a:extLst>
          </p:cNvPr>
          <p:cNvSpPr txBox="1"/>
          <p:nvPr userDrawn="1"/>
        </p:nvSpPr>
        <p:spPr>
          <a:xfrm>
            <a:off x="526652" y="5936339"/>
            <a:ext cx="18369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1" dirty="0">
                <a:solidFill>
                  <a:srgbClr val="847770"/>
                </a:solidFill>
                <a:latin typeface="Lucida Sans"/>
                <a:ea typeface="+mn-lt"/>
                <a:cs typeface="+mn-lt"/>
              </a:rPr>
              <a:t>IBERO</a:t>
            </a:r>
            <a:r>
              <a:rPr lang="es-ES" sz="1000" dirty="0">
                <a:solidFill>
                  <a:srgbClr val="847770"/>
                </a:solidFill>
                <a:latin typeface="Lucida Sans"/>
                <a:ea typeface="+mn-lt"/>
                <a:cs typeface="+mn-lt"/>
              </a:rPr>
              <a:t> Educación Continua</a:t>
            </a:r>
            <a:endParaRPr lang="es-MX" sz="1000"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3244" y="532456"/>
            <a:ext cx="54227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chemeClr val="bg1"/>
                </a:solidFill>
                <a:latin typeface="Arial Black" panose="020B0A04020102020204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81610" y="2019444"/>
            <a:ext cx="85344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 Narrow" panose="020B0606020202030204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04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312883" y="6016515"/>
            <a:ext cx="1796667" cy="770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7047" y="210693"/>
            <a:ext cx="7435545" cy="723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2145" y="1280921"/>
            <a:ext cx="11391645" cy="478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04292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5F95FA4-77BD-6425-1B5F-35CECC803083}"/>
              </a:ext>
            </a:extLst>
          </p:cNvPr>
          <p:cNvGrpSpPr/>
          <p:nvPr userDrawn="1"/>
        </p:nvGrpSpPr>
        <p:grpSpPr>
          <a:xfrm>
            <a:off x="0" y="15461"/>
            <a:ext cx="10363200" cy="925146"/>
            <a:chOff x="-68713" y="-56708"/>
            <a:chExt cx="8688173" cy="925146"/>
          </a:xfrm>
        </p:grpSpPr>
        <p:pic>
          <p:nvPicPr>
            <p:cNvPr id="19" name="Picture 9">
              <a:extLst>
                <a:ext uri="{FF2B5EF4-FFF2-40B4-BE49-F238E27FC236}">
                  <a16:creationId xmlns:a16="http://schemas.microsoft.com/office/drawing/2014/main" id="{F78E9555-D4E4-89F5-CBA6-A166F96E9E29}"/>
                </a:ext>
              </a:extLst>
            </p:cNvPr>
            <p:cNvPicPr/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4" t="17204" r="900" b="7070"/>
            <a:stretch/>
          </p:blipFill>
          <p:spPr>
            <a:xfrm>
              <a:off x="-68713" y="-56708"/>
              <a:ext cx="8688173" cy="925145"/>
            </a:xfrm>
            <a:prstGeom prst="rect">
              <a:avLst/>
            </a:prstGeom>
          </p:spPr>
        </p:pic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F373C20F-97A9-83AB-00E9-BE12DED10953}"/>
                </a:ext>
              </a:extLst>
            </p:cNvPr>
            <p:cNvSpPr/>
            <p:nvPr/>
          </p:nvSpPr>
          <p:spPr>
            <a:xfrm>
              <a:off x="-68713" y="-56708"/>
              <a:ext cx="406190" cy="925146"/>
            </a:xfrm>
            <a:prstGeom prst="rect">
              <a:avLst/>
            </a:prstGeom>
            <a:solidFill>
              <a:srgbClr val="A9A0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351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28964"/>
            <a:ext cx="7435545" cy="723264"/>
          </a:xfrm>
        </p:spPr>
        <p:txBody>
          <a:bodyPr vert="horz" wrap="square" lIns="0" tIns="83312" rIns="0" bIns="0" rtlCol="0">
            <a:spAutoFit/>
          </a:bodyPr>
          <a:lstStyle/>
          <a:p>
            <a:pPr marL="148590">
              <a:spcBef>
                <a:spcPts val="130"/>
              </a:spcBef>
            </a:pPr>
            <a:r>
              <a:rPr lang="en-US" sz="3800" spc="-1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Gestión</a:t>
            </a:r>
            <a:r>
              <a:rPr lang="en-US" sz="3800" spc="-1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800" spc="-1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efectiva</a:t>
            </a:r>
            <a:endParaRPr lang="en-US" sz="3800" spc="-1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4150" y="1121667"/>
            <a:ext cx="8273170" cy="45470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¿Cómo lo hacen las empresas?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riángulo isósceles 6"/>
          <p:cNvSpPr/>
          <p:nvPr/>
        </p:nvSpPr>
        <p:spPr>
          <a:xfrm>
            <a:off x="6714067" y="1524000"/>
            <a:ext cx="4800600" cy="3975487"/>
          </a:xfrm>
          <a:prstGeom prst="triangle">
            <a:avLst/>
          </a:prstGeom>
          <a:solidFill>
            <a:srgbClr val="FFFFE5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/>
          <p:cNvSpPr/>
          <p:nvPr/>
        </p:nvSpPr>
        <p:spPr>
          <a:xfrm>
            <a:off x="8839200" y="1354650"/>
            <a:ext cx="5588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/>
          <p:cNvSpPr/>
          <p:nvPr/>
        </p:nvSpPr>
        <p:spPr>
          <a:xfrm>
            <a:off x="11235267" y="5195211"/>
            <a:ext cx="5588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/>
          <p:cNvSpPr/>
          <p:nvPr/>
        </p:nvSpPr>
        <p:spPr>
          <a:xfrm>
            <a:off x="6434667" y="5195211"/>
            <a:ext cx="5588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adroTexto 10"/>
          <p:cNvSpPr txBox="1"/>
          <p:nvPr/>
        </p:nvSpPr>
        <p:spPr>
          <a:xfrm>
            <a:off x="9669880" y="1339334"/>
            <a:ext cx="1914178" cy="64633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Detecta</a:t>
            </a:r>
            <a:r>
              <a:rPr lang="en-US" dirty="0"/>
              <a:t> </a:t>
            </a:r>
            <a:r>
              <a:rPr lang="en-US" dirty="0" err="1"/>
              <a:t>necesidad</a:t>
            </a:r>
            <a:endParaRPr lang="en-US" dirty="0"/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MERCADO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5348461" y="5843587"/>
            <a:ext cx="1794274" cy="64633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Crea</a:t>
            </a:r>
            <a:r>
              <a:rPr lang="en-US" dirty="0"/>
              <a:t> un </a:t>
            </a:r>
            <a:r>
              <a:rPr lang="en-US" dirty="0" err="1"/>
              <a:t>solución</a:t>
            </a:r>
            <a:endParaRPr lang="en-US" dirty="0"/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Operaciones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9910234" y="5843587"/>
            <a:ext cx="2202270" cy="92333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Construye</a:t>
            </a:r>
            <a:r>
              <a:rPr lang="en-US" dirty="0"/>
              <a:t> un </a:t>
            </a:r>
            <a:r>
              <a:rPr lang="en-US" dirty="0" err="1"/>
              <a:t>modelo</a:t>
            </a:r>
            <a:br>
              <a:rPr lang="en-US" dirty="0"/>
            </a:br>
            <a:r>
              <a:rPr lang="en-US" dirty="0" err="1"/>
              <a:t>financiero</a:t>
            </a:r>
            <a:endParaRPr lang="en-US" dirty="0"/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Monetizarlo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$</a:t>
            </a:r>
          </a:p>
        </p:txBody>
      </p:sp>
      <p:sp>
        <p:nvSpPr>
          <p:cNvPr id="14" name="Marcador de contenido 6">
            <a:extLst>
              <a:ext uri="{FF2B5EF4-FFF2-40B4-BE49-F238E27FC236}">
                <a16:creationId xmlns:a16="http://schemas.microsoft.com/office/drawing/2014/main" id="{2482DBEC-EE72-4155-ACC5-87E80C5606A9}"/>
              </a:ext>
            </a:extLst>
          </p:cNvPr>
          <p:cNvSpPr txBox="1">
            <a:spLocks/>
          </p:cNvSpPr>
          <p:nvPr/>
        </p:nvSpPr>
        <p:spPr>
          <a:xfrm>
            <a:off x="194573" y="1852737"/>
            <a:ext cx="4825476" cy="3780754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I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9263" lvl="1" indent="-355600">
              <a:spcBef>
                <a:spcPts val="1800"/>
              </a:spcBef>
              <a:spcAft>
                <a:spcPts val="1800"/>
              </a:spcAft>
              <a:buClrTx/>
              <a:buSzPct val="75000"/>
              <a:buFont typeface="Wingdings" panose="05000000000000000000" pitchFamily="2" charset="2"/>
              <a:buChar char="Ø"/>
            </a:pPr>
            <a:r>
              <a:rPr lang="es-MX" sz="2200" dirty="0">
                <a:latin typeface="Arial Narrow" panose="020B0606020202030204" pitchFamily="34" charset="0"/>
              </a:rPr>
              <a:t>Encuentran un </a:t>
            </a: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mercado</a:t>
            </a:r>
            <a:r>
              <a:rPr lang="es-MX" sz="2200" dirty="0">
                <a:latin typeface="Arial Narrow" panose="020B0606020202030204" pitchFamily="34" charset="0"/>
              </a:rPr>
              <a:t> que tiene una necesidad.</a:t>
            </a:r>
          </a:p>
          <a:p>
            <a:pPr marL="436562" lvl="1" indent="-342900">
              <a:spcBef>
                <a:spcPts val="1800"/>
              </a:spcBef>
              <a:spcAft>
                <a:spcPts val="1800"/>
              </a:spcAft>
              <a:buClrTx/>
              <a:buSzPct val="75000"/>
              <a:buFont typeface="Wingdings" panose="05000000000000000000" pitchFamily="2" charset="2"/>
              <a:buChar char="Ø"/>
            </a:pPr>
            <a:r>
              <a:rPr lang="es-MX" sz="2200" dirty="0">
                <a:latin typeface="Arial Narrow" panose="020B0606020202030204" pitchFamily="34" charset="0"/>
              </a:rPr>
              <a:t>Crea un proceso </a:t>
            </a: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operativo</a:t>
            </a:r>
            <a:r>
              <a:rPr lang="es-MX" sz="2200" dirty="0">
                <a:latin typeface="Arial Narrow" panose="020B0606020202030204" pitchFamily="34" charset="0"/>
              </a:rPr>
              <a:t> para satisfacer esa necesidad del mercado. </a:t>
            </a:r>
          </a:p>
          <a:p>
            <a:pPr marL="436562" lvl="1" indent="-342900">
              <a:spcBef>
                <a:spcPts val="1800"/>
              </a:spcBef>
              <a:spcAft>
                <a:spcPts val="1800"/>
              </a:spcAft>
              <a:buClrTx/>
              <a:buSzPct val="75000"/>
              <a:buFont typeface="Wingdings" panose="05000000000000000000" pitchFamily="2" charset="2"/>
              <a:buChar char="Ø"/>
            </a:pPr>
            <a:r>
              <a:rPr lang="es-MX" sz="2200" dirty="0">
                <a:latin typeface="Arial Narrow" panose="020B0606020202030204" pitchFamily="34" charset="0"/>
              </a:rPr>
              <a:t>Establecen un </a:t>
            </a: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modelo de intercambio monetario</a:t>
            </a:r>
            <a:r>
              <a:rPr lang="es-MX" sz="2200" dirty="0">
                <a:latin typeface="Arial Narrow" panose="020B0606020202030204" pitchFamily="34" charset="0"/>
              </a:rPr>
              <a:t> por la solución que tiene la empresa para satisfacer la necesidad del mercado.</a:t>
            </a:r>
          </a:p>
          <a:p>
            <a:pPr marL="1219170" lvl="1" indent="-609585">
              <a:spcBef>
                <a:spcPts val="1800"/>
              </a:spcBef>
              <a:spcAft>
                <a:spcPts val="1800"/>
              </a:spcAft>
              <a:buClrTx/>
              <a:buSzPct val="75000"/>
              <a:buFont typeface="Wingdings" panose="05000000000000000000" pitchFamily="2" charset="2"/>
              <a:buChar char="Ø"/>
            </a:pPr>
            <a:endParaRPr lang="es-MX" sz="2200" dirty="0">
              <a:latin typeface="Arial Narrow" panose="020B0606020202030204" pitchFamily="34" charset="0"/>
            </a:endParaRPr>
          </a:p>
          <a:p>
            <a:pPr marL="1219170" lvl="1" indent="-609585">
              <a:spcBef>
                <a:spcPts val="1800"/>
              </a:spcBef>
              <a:spcAft>
                <a:spcPts val="1800"/>
              </a:spcAft>
              <a:buClrTx/>
              <a:buSzPct val="75000"/>
              <a:buFont typeface="Wingdings" panose="05000000000000000000" pitchFamily="2" charset="2"/>
              <a:buChar char="Ø"/>
            </a:pPr>
            <a:endParaRPr lang="es-MX" sz="2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145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170660"/>
            <a:ext cx="7435545" cy="723264"/>
          </a:xfrm>
        </p:spPr>
        <p:txBody>
          <a:bodyPr vert="horz" wrap="square" lIns="0" tIns="83312" rIns="0" bIns="0" rtlCol="0">
            <a:spAutoFit/>
          </a:bodyPr>
          <a:lstStyle/>
          <a:p>
            <a:pPr marL="148590">
              <a:spcBef>
                <a:spcPts val="130"/>
              </a:spcBef>
            </a:pPr>
            <a:r>
              <a:rPr lang="en-US" sz="3800" spc="-1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Gestión</a:t>
            </a:r>
            <a:r>
              <a:rPr lang="en-US" sz="3800" spc="-1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800" spc="-1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efectiva</a:t>
            </a:r>
            <a:endParaRPr lang="en-US" sz="3800" spc="-1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4150" y="1171682"/>
            <a:ext cx="11359299" cy="9280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¿Por dónde empezamos?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7" t="16173" r="774" b="16543"/>
          <a:stretch/>
        </p:blipFill>
        <p:spPr>
          <a:xfrm>
            <a:off x="5901266" y="1727199"/>
            <a:ext cx="5469467" cy="4614335"/>
          </a:xfrm>
          <a:prstGeom prst="rect">
            <a:avLst/>
          </a:prstGeo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2482DBEC-EE72-4155-ACC5-87E80C5606A9}"/>
              </a:ext>
            </a:extLst>
          </p:cNvPr>
          <p:cNvSpPr txBox="1">
            <a:spLocks/>
          </p:cNvSpPr>
          <p:nvPr/>
        </p:nvSpPr>
        <p:spPr>
          <a:xfrm>
            <a:off x="397772" y="1871132"/>
            <a:ext cx="4825476" cy="3780754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I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663" lvl="1" indent="0">
              <a:spcBef>
                <a:spcPts val="600"/>
              </a:spcBef>
              <a:spcAft>
                <a:spcPts val="600"/>
              </a:spcAft>
              <a:buClrTx/>
              <a:buSzPct val="75000"/>
              <a:buNone/>
            </a:pP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consequence</a:t>
            </a: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s-MX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planning</a:t>
            </a: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but</a:t>
            </a: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opposite</a:t>
            </a: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starting</a:t>
            </a: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point</a:t>
            </a:r>
            <a:r>
              <a:rPr lang="es-MX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marL="952485" lvl="1" indent="-342900">
              <a:spcBef>
                <a:spcPts val="0"/>
              </a:spcBef>
              <a:spcAft>
                <a:spcPts val="1800"/>
              </a:spcAft>
              <a:buClrTx/>
              <a:buSzPct val="75000"/>
              <a:buFont typeface="Arial Narrow" panose="020B0606020202030204" pitchFamily="34" charset="0"/>
              <a:buChar char="—"/>
            </a:pPr>
            <a:r>
              <a:rPr lang="es-MX" sz="2200" b="1" dirty="0">
                <a:latin typeface="Arial Narrow" panose="020B0606020202030204" pitchFamily="34" charset="0"/>
              </a:rPr>
              <a:t>Henry </a:t>
            </a:r>
            <a:r>
              <a:rPr lang="es-MX" sz="2200" b="1" dirty="0" err="1">
                <a:latin typeface="Arial Narrow" panose="020B0606020202030204" pitchFamily="34" charset="0"/>
              </a:rPr>
              <a:t>Mintzberg</a:t>
            </a:r>
            <a:r>
              <a:rPr lang="es-MX" sz="2200" b="1" dirty="0">
                <a:latin typeface="Arial Narrow" panose="020B0606020202030204" pitchFamily="34" charset="0"/>
              </a:rPr>
              <a:t> </a:t>
            </a:r>
          </a:p>
          <a:p>
            <a:pPr marL="0" lvl="1" indent="0">
              <a:spcBef>
                <a:spcPts val="1200"/>
              </a:spcBef>
              <a:spcAft>
                <a:spcPts val="1800"/>
              </a:spcAft>
              <a:buClrTx/>
              <a:buSzPct val="75000"/>
              <a:buNone/>
            </a:pPr>
            <a:r>
              <a:rPr lang="es-MX" sz="2200" dirty="0">
                <a:latin typeface="Arial Narrow" panose="020B0606020202030204" pitchFamily="34" charset="0"/>
              </a:rPr>
              <a:t>Tenemos una hoja de ruta, de nuevo en forma de una pirámide, esta vez, </a:t>
            </a:r>
            <a:r>
              <a:rPr lang="es-MX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estratégica</a:t>
            </a:r>
            <a:r>
              <a:rPr lang="es-MX" sz="2200" dirty="0">
                <a:latin typeface="Arial Narrow" panose="020B0606020202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9507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2482DBEC-EE72-4155-ACC5-87E80C5606A9}"/>
              </a:ext>
            </a:extLst>
          </p:cNvPr>
          <p:cNvSpPr txBox="1">
            <a:spLocks/>
          </p:cNvSpPr>
          <p:nvPr/>
        </p:nvSpPr>
        <p:spPr>
          <a:xfrm>
            <a:off x="308233" y="1621842"/>
            <a:ext cx="4764100" cy="862642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I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-MX" sz="2667" dirty="0">
                <a:latin typeface="Arial Narrow" panose="020B0606020202030204" pitchFamily="34" charset="0"/>
              </a:rPr>
              <a:t>El camino de inicio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E3F0C5-3355-B03A-21D9-D50E3141F6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34" t="13883" r="39505" b="9310"/>
          <a:stretch/>
        </p:blipFill>
        <p:spPr>
          <a:xfrm>
            <a:off x="5502329" y="1268083"/>
            <a:ext cx="6074319" cy="5486400"/>
          </a:xfrm>
          <a:prstGeom prst="rect">
            <a:avLst/>
          </a:prstGeom>
        </p:spPr>
      </p:pic>
      <p:sp>
        <p:nvSpPr>
          <p:cNvPr id="2" name="Google Shape;92;p19">
            <a:extLst>
              <a:ext uri="{FF2B5EF4-FFF2-40B4-BE49-F238E27FC236}">
                <a16:creationId xmlns:a16="http://schemas.microsoft.com/office/drawing/2014/main" id="{5E503BA1-0AB3-F6DA-04E0-169C9B226920}"/>
              </a:ext>
            </a:extLst>
          </p:cNvPr>
          <p:cNvSpPr/>
          <p:nvPr/>
        </p:nvSpPr>
        <p:spPr>
          <a:xfrm>
            <a:off x="533400" y="150609"/>
            <a:ext cx="6442763" cy="668901"/>
          </a:xfrm>
          <a:prstGeom prst="rect">
            <a:avLst/>
          </a:prstGeom>
        </p:spPr>
        <p:txBody>
          <a:bodyPr vert="horz" wrap="square" lIns="0" tIns="83312" rIns="0" bIns="0" rtlCol="0">
            <a:spAutoFit/>
          </a:bodyPr>
          <a:lstStyle/>
          <a:p>
            <a:pPr marL="148590">
              <a:spcBef>
                <a:spcPts val="130"/>
              </a:spcBef>
            </a:pPr>
            <a:r>
              <a:rPr lang="es-MX" sz="3800" b="1" spc="-1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+mj-ea"/>
                <a:cs typeface="Arial"/>
                <a:sym typeface="Open Sans"/>
              </a:rPr>
              <a:t>¿En dónde estamos?</a:t>
            </a:r>
            <a:endParaRPr sz="3800" b="1" spc="-1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+mj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4713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2482DBEC-EE72-4155-ACC5-87E80C5606A9}"/>
              </a:ext>
            </a:extLst>
          </p:cNvPr>
          <p:cNvSpPr txBox="1">
            <a:spLocks/>
          </p:cNvSpPr>
          <p:nvPr/>
        </p:nvSpPr>
        <p:spPr>
          <a:xfrm>
            <a:off x="457176" y="1741471"/>
            <a:ext cx="3375247" cy="4502913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I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-MX" sz="2667" dirty="0">
                <a:latin typeface="Arial Narrow" panose="020B0606020202030204" pitchFamily="34" charset="0"/>
              </a:rPr>
              <a:t>Definiendo la primera parte de la estrategia: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5773536-2C6D-7EC8-58FC-B0F8BAAD92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29" t="19107" r="58538" b="33084"/>
          <a:stretch/>
        </p:blipFill>
        <p:spPr>
          <a:xfrm>
            <a:off x="5278618" y="1196615"/>
            <a:ext cx="5800598" cy="5661385"/>
          </a:xfrm>
          <a:prstGeom prst="rect">
            <a:avLst/>
          </a:prstGeom>
        </p:spPr>
      </p:pic>
      <p:sp>
        <p:nvSpPr>
          <p:cNvPr id="2" name="Google Shape;92;p19">
            <a:extLst>
              <a:ext uri="{FF2B5EF4-FFF2-40B4-BE49-F238E27FC236}">
                <a16:creationId xmlns:a16="http://schemas.microsoft.com/office/drawing/2014/main" id="{96CEE023-589E-73E7-2D01-3ED13D47F014}"/>
              </a:ext>
            </a:extLst>
          </p:cNvPr>
          <p:cNvSpPr/>
          <p:nvPr/>
        </p:nvSpPr>
        <p:spPr>
          <a:xfrm>
            <a:off x="533400" y="150609"/>
            <a:ext cx="6442763" cy="668901"/>
          </a:xfrm>
          <a:prstGeom prst="rect">
            <a:avLst/>
          </a:prstGeom>
        </p:spPr>
        <p:txBody>
          <a:bodyPr vert="horz" wrap="square" lIns="0" tIns="83312" rIns="0" bIns="0" rtlCol="0">
            <a:spAutoFit/>
          </a:bodyPr>
          <a:lstStyle/>
          <a:p>
            <a:pPr marL="148590">
              <a:spcBef>
                <a:spcPts val="130"/>
              </a:spcBef>
            </a:pPr>
            <a:r>
              <a:rPr lang="es-MX" sz="3800" b="1" spc="-1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+mj-ea"/>
                <a:cs typeface="Arial"/>
                <a:sym typeface="Open Sans"/>
              </a:rPr>
              <a:t>¿En dónde estamos?</a:t>
            </a:r>
            <a:endParaRPr sz="3800" b="1" spc="-1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+mj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1360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8">
            <a:extLst>
              <a:ext uri="{FF2B5EF4-FFF2-40B4-BE49-F238E27FC236}">
                <a16:creationId xmlns:a16="http://schemas.microsoft.com/office/drawing/2014/main" id="{53469036-D1FB-4164-96AE-B6D8CECCFC96}"/>
              </a:ext>
            </a:extLst>
          </p:cNvPr>
          <p:cNvSpPr txBox="1">
            <a:spLocks/>
          </p:cNvSpPr>
          <p:nvPr/>
        </p:nvSpPr>
        <p:spPr>
          <a:xfrm>
            <a:off x="533400" y="140252"/>
            <a:ext cx="9508267" cy="668901"/>
          </a:xfrm>
          <a:prstGeom prst="rect">
            <a:avLst/>
          </a:prstGeom>
        </p:spPr>
        <p:txBody>
          <a:bodyPr vert="horz" wrap="square" lIns="0" tIns="83312" rIns="0" bIns="0" rtlCol="0">
            <a:spAutoFit/>
          </a:bodyPr>
          <a:lstStyle>
            <a:lvl1pPr marL="148590">
              <a:spcBef>
                <a:spcPts val="130"/>
              </a:spcBef>
              <a:defRPr sz="3800" b="1" i="0" spc="-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+mj-ea"/>
                <a:cs typeface="Arial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Estrategia</a:t>
            </a:r>
          </a:p>
        </p:txBody>
      </p:sp>
      <p:sp>
        <p:nvSpPr>
          <p:cNvPr id="4" name="Marcador de contenido 6">
            <a:extLst>
              <a:ext uri="{FF2B5EF4-FFF2-40B4-BE49-F238E27FC236}">
                <a16:creationId xmlns:a16="http://schemas.microsoft.com/office/drawing/2014/main" id="{2482DBEC-EE72-4155-ACC5-87E80C5606A9}"/>
              </a:ext>
            </a:extLst>
          </p:cNvPr>
          <p:cNvSpPr txBox="1">
            <a:spLocks/>
          </p:cNvSpPr>
          <p:nvPr/>
        </p:nvSpPr>
        <p:spPr>
          <a:xfrm>
            <a:off x="414068" y="1126127"/>
            <a:ext cx="11283351" cy="811861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I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buNone/>
            </a:pPr>
            <a:r>
              <a:rPr lang="es-MX" sz="2600" dirty="0">
                <a:latin typeface="Arial Narrow" panose="020B0606020202030204" pitchFamily="34" charset="0"/>
              </a:rPr>
              <a:t>Con qué ganamos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073" y="1760075"/>
            <a:ext cx="8722177" cy="499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740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11214</TotalTime>
  <Words>134</Words>
  <Application>Microsoft Macintosh PowerPoint</Application>
  <PresentationFormat>Panorámica</PresentationFormat>
  <Paragraphs>22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Aptos</vt:lpstr>
      <vt:lpstr>Arial</vt:lpstr>
      <vt:lpstr>Arial Black</vt:lpstr>
      <vt:lpstr>Arial Narrow</vt:lpstr>
      <vt:lpstr>Calibri</vt:lpstr>
      <vt:lpstr>Lucida Sans</vt:lpstr>
      <vt:lpstr>Wingdings</vt:lpstr>
      <vt:lpstr>Office Theme</vt:lpstr>
      <vt:lpstr>Gestión efectiva</vt:lpstr>
      <vt:lpstr>Gestión efectiva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CESAR BRAVO VAZQUEZ</cp:lastModifiedBy>
  <cp:revision>26</cp:revision>
  <dcterms:created xsi:type="dcterms:W3CDTF">2025-02-03T18:58:48Z</dcterms:created>
  <dcterms:modified xsi:type="dcterms:W3CDTF">2026-04-20T19:23:14Z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2025-02-03T00:00:00Z</vt:filetime>
  </property>
  <property fmtid="{D5CDD505-2E9C-101B-9397-08002B2CF9AE}" pid="5" name="Producer">
    <vt:lpwstr>3-Heights(TM) PDF Security Shell 4.8.25.2 (http://www.pdf-tools.com)</vt:lpwstr>
  </property>
</Properties>
</file>